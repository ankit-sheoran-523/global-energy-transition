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9144000"/>
  <p:embeddedFontLst>
    <p:embeddedFont>
      <p:font typeface="Lato" panose="020F0502020204030203" pitchFamily="34" charset="0"/>
      <p:regular r:id="rId12"/>
      <p:bold r:id="rId13"/>
      <p:italic r:id="rId14"/>
      <p:boldItalic r:id="rId15"/>
    </p:embeddedFont>
    <p:embeddedFont>
      <p:font typeface="Lato Light" panose="020F0502020204030203" pitchFamily="34" charset="0"/>
      <p:regular r:id="rId16"/>
      <p:bold r:id="rId17"/>
      <p:italic r:id="rId18"/>
      <p:boldItalic r:id="rId19"/>
    </p:embeddedFont>
    <p:embeddedFont>
      <p:font typeface="Poppins" panose="00000500000000000000" pitchFamily="2" charset="0"/>
      <p:regular r:id="rId20"/>
      <p:bold r:id="rId21"/>
      <p:italic r:id="rId22"/>
      <p:boldItalic r:id="rId23"/>
    </p:embeddedFont>
    <p:embeddedFont>
      <p:font typeface="Poppins ExtraBold" panose="00000900000000000000" pitchFamily="2" charset="0"/>
      <p:bold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61A3717-D86A-4C7F-9628-D1737EF4A46E}">
  <a:tblStyle styleId="{461A3717-D86A-4C7F-9628-D1737EF4A46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00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ABEA9AA1-8809-45C5-BB2B-55228CC91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>
            <a:extLst>
              <a:ext uri="{FF2B5EF4-FFF2-40B4-BE49-F238E27FC236}">
                <a16:creationId xmlns:a16="http://schemas.microsoft.com/office/drawing/2014/main" id="{46C845D9-7004-6CC1-3C6D-354DC92584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>
            <a:extLst>
              <a:ext uri="{FF2B5EF4-FFF2-40B4-BE49-F238E27FC236}">
                <a16:creationId xmlns:a16="http://schemas.microsoft.com/office/drawing/2014/main" id="{ECB25C83-CFFB-768B-A4EB-9C6935CDF1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49370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microsoft.com/office/2007/relationships/hdphoto" Target="../media/hdphoto2.wdp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microsoft.com/office/2007/relationships/hdphoto" Target="../media/hdphoto1.wdp"/><Relationship Id="rId5" Type="http://schemas.openxmlformats.org/officeDocument/2006/relationships/image" Target="../media/image11.png"/><Relationship Id="rId10" Type="http://schemas.openxmlformats.org/officeDocument/2006/relationships/image" Target="../media/image15.png"/><Relationship Id="rId4" Type="http://schemas.openxmlformats.org/officeDocument/2006/relationships/image" Target="../media/image10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3.png"/><Relationship Id="rId5" Type="http://schemas.openxmlformats.org/officeDocument/2006/relationships/image" Target="../media/image18.png"/><Relationship Id="rId10" Type="http://schemas.openxmlformats.org/officeDocument/2006/relationships/image" Target="../media/image22.png"/><Relationship Id="rId4" Type="http://schemas.openxmlformats.org/officeDocument/2006/relationships/image" Target="../media/image17.png"/><Relationship Id="rId9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29.png"/><Relationship Id="rId4" Type="http://schemas.openxmlformats.org/officeDocument/2006/relationships/image" Target="../media/image24.png"/><Relationship Id="rId9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5.png"/><Relationship Id="rId4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/>
          <p:nvPr/>
        </p:nvSpPr>
        <p:spPr>
          <a:xfrm>
            <a:off x="495300" y="2027089"/>
            <a:ext cx="11201400" cy="1380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0" i="0" u="none" strike="noStrike" cap="none" dirty="0">
                <a:solidFill>
                  <a:schemeClr val="tx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Global Energy Transition &amp;</a:t>
            </a:r>
            <a:br>
              <a:rPr lang="en-US" sz="1800" b="0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900" b="0" i="0" u="none" strike="noStrike" cap="none" dirty="0">
                <a:solidFill>
                  <a:schemeClr val="tx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 Decarbonization Performance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3138487" y="3503265"/>
            <a:ext cx="59150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4A3B8"/>
                </a:solidFill>
                <a:latin typeface="Lato Light"/>
                <a:ea typeface="Lato Light"/>
                <a:cs typeface="Lato Light"/>
                <a:sym typeface="Lato Light"/>
              </a:rPr>
              <a:t>Unified Data Engineering, Star Schema Modeling &amp; Executive Storytelling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798736"/>
            <a:ext cx="5143500" cy="41139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798736"/>
            <a:ext cx="5143500" cy="14494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3438673"/>
            <a:ext cx="5143500" cy="1875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6086475"/>
            <a:ext cx="10668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971550" y="6238875"/>
            <a:ext cx="12001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4A7596"/>
                </a:solidFill>
                <a:latin typeface="Lato"/>
                <a:ea typeface="Lato"/>
                <a:cs typeface="Lato"/>
                <a:sym typeface="Lato"/>
              </a:rPr>
              <a:t>Global Energy Analytics</a:t>
            </a:r>
            <a:endParaRPr/>
          </a:p>
        </p:txBody>
      </p:sp>
      <p:pic>
        <p:nvPicPr>
          <p:cNvPr id="105" name="Google Shape;105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2000" y="6243637"/>
            <a:ext cx="13335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1381125" y="2094011"/>
            <a:ext cx="444055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Strategic Reality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1095375" y="2494061"/>
            <a:ext cx="45148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Global corporate purchase structures and international grids operate under severe operational and reporting constraints:</a:t>
            </a:r>
            <a:endParaRPr/>
          </a:p>
        </p:txBody>
      </p:sp>
      <p:pic>
        <p:nvPicPr>
          <p:cNvPr id="108" name="Google Shape;108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95375" y="2141636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1362075" y="3141761"/>
            <a:ext cx="4248150" cy="853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The Business Challenge:</a:t>
            </a:r>
            <a:r>
              <a:rPr lang="en-US" sz="10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Global energy systems generate massive, fragmented datasets (emissions, TWh production, GDP scaling) that are often siloed, preventing executive leadership from tracking decarbonization progress.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1362075" y="4109144"/>
            <a:ext cx="4248150" cy="63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The Analytical Gap:</a:t>
            </a:r>
            <a:r>
              <a:rPr lang="en-US" sz="10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Traditional reporting lacks a centralized "source of truth" to correlate macroeconomic indicators (GDP) with environmental efficiency (Carbon Intensity).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1362075" y="4863256"/>
            <a:ext cx="4248150" cy="63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The Objective:</a:t>
            </a:r>
            <a:r>
              <a:rPr lang="en-US" sz="10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Build a scalable, automated Business Intelligence ecosystem to visualize the transition, benchmark geopolitical leaders, and measure performance against 2030 climate mandates.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6810375" y="2017811"/>
            <a:ext cx="4620577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3B7A57"/>
                </a:solidFill>
                <a:latin typeface="Poppins"/>
                <a:ea typeface="Poppins"/>
                <a:cs typeface="Poppins"/>
                <a:sym typeface="Poppins"/>
              </a:rPr>
              <a:t>Global Context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6543675" y="2389286"/>
            <a:ext cx="4667250" cy="63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Energy demand continues to rise worldwide, while fossil fuels still dominate the base load mix globally. Strategic visibility across multi-source datasets is non-negotiable.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6791325" y="3657748"/>
            <a:ext cx="464058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A7596"/>
                </a:solidFill>
                <a:latin typeface="Poppins"/>
                <a:ea typeface="Poppins"/>
                <a:cs typeface="Poppins"/>
                <a:sym typeface="Poppins"/>
              </a:rPr>
              <a:t>Challenges &amp; Needs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6543675" y="4029223"/>
            <a:ext cx="4667250" cy="1120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Renewable adoption is uneven across regions. Carbon emissions remain concentrated in a few major economies, and efficiency gains are not consistent globally.</a:t>
            </a:r>
          </a:p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6" name="Google Shape;116;p14"/>
          <p:cNvSpPr txBox="1"/>
          <p:nvPr/>
        </p:nvSpPr>
        <p:spPr>
          <a:xfrm>
            <a:off x="6543675" y="4733515"/>
            <a:ext cx="4667250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4A7596"/>
                </a:solidFill>
                <a:latin typeface="Lato"/>
                <a:ea typeface="Lato"/>
                <a:cs typeface="Lato"/>
                <a:sym typeface="Lato"/>
              </a:rPr>
              <a:t>Need: Clear visibility into renewable growth trends, comparative country metrics, and stable measurements (Energy Intensity, Carbon Intensity, CAGR).</a:t>
            </a:r>
            <a:endParaRPr dirty="0"/>
          </a:p>
        </p:txBody>
      </p:sp>
      <p:sp>
        <p:nvSpPr>
          <p:cNvPr id="117" name="Google Shape;117;p14"/>
          <p:cNvSpPr txBox="1"/>
          <p:nvPr/>
        </p:nvSpPr>
        <p:spPr>
          <a:xfrm>
            <a:off x="1095375" y="3160811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DDA15E"/>
                </a:solidFill>
                <a:latin typeface="Lato"/>
                <a:ea typeface="Lato"/>
                <a:cs typeface="Lato"/>
                <a:sym typeface="Lato"/>
              </a:rPr>
              <a:t>■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1095375" y="4128194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DDA15E"/>
                </a:solidFill>
                <a:latin typeface="Lato"/>
                <a:ea typeface="Lato"/>
                <a:cs typeface="Lato"/>
                <a:sym typeface="Lato"/>
              </a:rPr>
              <a:t>■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1095375" y="4882306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DDA15E"/>
                </a:solidFill>
                <a:latin typeface="Lato"/>
                <a:ea typeface="Lato"/>
                <a:cs typeface="Lato"/>
                <a:sym typeface="Lato"/>
              </a:rPr>
              <a:t>■</a:t>
            </a:r>
            <a:endParaRPr/>
          </a:p>
        </p:txBody>
      </p:sp>
      <p:pic>
        <p:nvPicPr>
          <p:cNvPr id="120" name="Google Shape;120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543675" y="2060674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543675" y="3700611"/>
            <a:ext cx="1524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4"/>
          <p:cNvSpPr txBox="1"/>
          <p:nvPr/>
        </p:nvSpPr>
        <p:spPr>
          <a:xfrm>
            <a:off x="762000" y="476250"/>
            <a:ext cx="1120140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The Problem Statement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933450" y="1047750"/>
            <a:ext cx="104965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Analyzing the Strategic Demands and Core Realities of Global Grid Decarbonization</a:t>
            </a:r>
            <a:endParaRPr/>
          </a:p>
        </p:txBody>
      </p:sp>
      <p:sp>
        <p:nvSpPr>
          <p:cNvPr id="124" name="Google Shape;124;p14"/>
          <p:cNvSpPr/>
          <p:nvPr/>
        </p:nvSpPr>
        <p:spPr>
          <a:xfrm>
            <a:off x="762000" y="1000125"/>
            <a:ext cx="57150" cy="342900"/>
          </a:xfrm>
          <a:prstGeom prst="roundRect">
            <a:avLst>
              <a:gd name="adj" fmla="val 50000"/>
            </a:avLst>
          </a:prstGeom>
          <a:solidFill>
            <a:srgbClr val="4A75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62" y="5862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017216"/>
            <a:ext cx="5143500" cy="36769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81775" y="3520082"/>
            <a:ext cx="4552950" cy="725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1775" y="4673798"/>
            <a:ext cx="4552950" cy="725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6086475"/>
            <a:ext cx="10668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5"/>
          <p:cNvSpPr txBox="1"/>
          <p:nvPr/>
        </p:nvSpPr>
        <p:spPr>
          <a:xfrm>
            <a:off x="952500" y="6238875"/>
            <a:ext cx="17716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4A7596"/>
                </a:solidFill>
                <a:latin typeface="Lato"/>
                <a:ea typeface="Lato"/>
                <a:cs typeface="Lato"/>
                <a:sym typeface="Lato"/>
              </a:rPr>
              <a:t>Star Schema Backend Architecture</a:t>
            </a:r>
            <a:endParaRPr/>
          </a:p>
        </p:txBody>
      </p:sp>
      <p:pic>
        <p:nvPicPr>
          <p:cNvPr id="136" name="Google Shape;136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2000" y="6243637"/>
            <a:ext cx="11430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5"/>
          <p:cNvSpPr txBox="1"/>
          <p:nvPr/>
        </p:nvSpPr>
        <p:spPr>
          <a:xfrm>
            <a:off x="6915150" y="2312491"/>
            <a:ext cx="4430553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DAX Calculations Engine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6581775" y="2712541"/>
            <a:ext cx="4552950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Calculated columns and dynamic measures designed to safeguard mathematical integrity and filter context: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6581775" y="3234332"/>
            <a:ext cx="45529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Carbon Intensity Formulation: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6581775" y="4388048"/>
            <a:ext cx="45529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Energy Intensity Formulation: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1028700" y="2017216"/>
            <a:ext cx="48768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Data Prep (ETL):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Cleaned and standardized highly fragmented multi-source datasets via </a:t>
            </a:r>
            <a:r>
              <a:rPr lang="en-US" sz="1200" b="0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Power Query (M)</a:t>
            </a: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incorporating unit normalization (TWh) and GDP-scaling.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1028700" y="2920007"/>
            <a:ext cx="48768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Model Architecture: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Implemented a highly optimized, relational </a:t>
            </a:r>
            <a:r>
              <a:rPr lang="en-US" sz="1200" b="0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Star Schema</a:t>
            </a: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to isolate data paths and eliminate complex many-to-many relationship traps.</a:t>
            </a:r>
            <a:endParaRPr/>
          </a:p>
        </p:txBody>
      </p:sp>
      <p:sp>
        <p:nvSpPr>
          <p:cNvPr id="143" name="Google Shape;143;p15"/>
          <p:cNvSpPr txBox="1"/>
          <p:nvPr/>
        </p:nvSpPr>
        <p:spPr>
          <a:xfrm>
            <a:off x="1028700" y="3822799"/>
            <a:ext cx="4876800" cy="750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Star Layout: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Centralized transactional facts inside Fact_Energy_Source, linked directly via 1:N relations to Dim_Geography, Dim_Calendar, and Dim_Source.</a:t>
            </a:r>
            <a:endParaRPr/>
          </a:p>
        </p:txBody>
      </p:sp>
      <p:pic>
        <p:nvPicPr>
          <p:cNvPr id="144" name="Google Shape;144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81775" y="2360116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5" descr="image.png"/>
          <p:cNvPicPr preferRelativeResize="0"/>
          <p:nvPr/>
        </p:nvPicPr>
        <p:blipFill rotWithShape="1">
          <a:blip r:embed="rId10">
            <a:alphaModFix/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20000" contrast="2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7332166" y="3672482"/>
            <a:ext cx="3090267" cy="4202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5" descr="image.png"/>
          <p:cNvPicPr preferRelativeResize="0"/>
          <p:nvPr/>
        </p:nvPicPr>
        <p:blipFill rotWithShape="1">
          <a:blip r:embed="rId12">
            <a:alphaModFix/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20000" contrast="2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7238107" y="4826198"/>
            <a:ext cx="3278385" cy="42029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5"/>
          <p:cNvSpPr txBox="1"/>
          <p:nvPr/>
        </p:nvSpPr>
        <p:spPr>
          <a:xfrm>
            <a:off x="762000" y="2036266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DDA15E"/>
                </a:solidFill>
                <a:latin typeface="Lato"/>
                <a:ea typeface="Lato"/>
                <a:cs typeface="Lato"/>
                <a:sym typeface="Lato"/>
              </a:rPr>
              <a:t>■</a:t>
            </a:r>
            <a:endParaRPr/>
          </a:p>
        </p:txBody>
      </p:sp>
      <p:sp>
        <p:nvSpPr>
          <p:cNvPr id="148" name="Google Shape;148;p15"/>
          <p:cNvSpPr txBox="1"/>
          <p:nvPr/>
        </p:nvSpPr>
        <p:spPr>
          <a:xfrm>
            <a:off x="762000" y="2939057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DDA15E"/>
                </a:solidFill>
                <a:latin typeface="Lato"/>
                <a:ea typeface="Lato"/>
                <a:cs typeface="Lato"/>
                <a:sym typeface="Lato"/>
              </a:rPr>
              <a:t>■</a:t>
            </a:r>
            <a:endParaRPr/>
          </a:p>
        </p:txBody>
      </p:sp>
      <p:sp>
        <p:nvSpPr>
          <p:cNvPr id="149" name="Google Shape;149;p15"/>
          <p:cNvSpPr txBox="1"/>
          <p:nvPr/>
        </p:nvSpPr>
        <p:spPr>
          <a:xfrm>
            <a:off x="762000" y="3841849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DDA15E"/>
                </a:solidFill>
                <a:latin typeface="Lato"/>
                <a:ea typeface="Lato"/>
                <a:cs typeface="Lato"/>
                <a:sym typeface="Lato"/>
              </a:rPr>
              <a:t>■</a:t>
            </a:r>
            <a:endParaRPr/>
          </a:p>
        </p:txBody>
      </p:sp>
      <p:sp>
        <p:nvSpPr>
          <p:cNvPr id="150" name="Google Shape;150;p15"/>
          <p:cNvSpPr txBox="1"/>
          <p:nvPr/>
        </p:nvSpPr>
        <p:spPr>
          <a:xfrm>
            <a:off x="762000" y="476250"/>
            <a:ext cx="1120140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Data Foundation &amp; Engineering</a:t>
            </a:r>
            <a:endParaRPr/>
          </a:p>
        </p:txBody>
      </p:sp>
      <p:sp>
        <p:nvSpPr>
          <p:cNvPr id="151" name="Google Shape;151;p15"/>
          <p:cNvSpPr txBox="1"/>
          <p:nvPr/>
        </p:nvSpPr>
        <p:spPr>
          <a:xfrm>
            <a:off x="933450" y="1047750"/>
            <a:ext cx="104965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Constructing the Star Schema Model and Formulating Robust Performance Metrics</a:t>
            </a:r>
            <a:endParaRPr/>
          </a:p>
        </p:txBody>
      </p:sp>
      <p:sp>
        <p:nvSpPr>
          <p:cNvPr id="152" name="Google Shape;152;p15"/>
          <p:cNvSpPr/>
          <p:nvPr/>
        </p:nvSpPr>
        <p:spPr>
          <a:xfrm>
            <a:off x="762000" y="1000125"/>
            <a:ext cx="57150" cy="342900"/>
          </a:xfrm>
          <a:prstGeom prst="roundRect">
            <a:avLst>
              <a:gd name="adj" fmla="val 50000"/>
            </a:avLst>
          </a:prstGeom>
          <a:solidFill>
            <a:srgbClr val="4A75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62" y="5862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624905"/>
            <a:ext cx="1981200" cy="100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933700" y="1624905"/>
            <a:ext cx="1981200" cy="100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105400" y="1624905"/>
            <a:ext cx="1981200" cy="100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277100" y="1624905"/>
            <a:ext cx="1981200" cy="100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48800" y="1624905"/>
            <a:ext cx="1981200" cy="100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86500" y="3408015"/>
            <a:ext cx="5143500" cy="219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62000" y="6086475"/>
            <a:ext cx="10668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6"/>
          <p:cNvSpPr txBox="1"/>
          <p:nvPr/>
        </p:nvSpPr>
        <p:spPr>
          <a:xfrm>
            <a:off x="971550" y="6238875"/>
            <a:ext cx="16573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4A7596"/>
                </a:solidFill>
                <a:latin typeface="Lato"/>
                <a:ea typeface="Lato"/>
                <a:cs typeface="Lato"/>
                <a:sym typeface="Lato"/>
              </a:rPr>
              <a:t>Decoupling &amp; Transition Baseline</a:t>
            </a:r>
            <a:endParaRPr/>
          </a:p>
        </p:txBody>
      </p:sp>
      <p:sp>
        <p:nvSpPr>
          <p:cNvPr id="167" name="Google Shape;167;p16"/>
          <p:cNvSpPr txBox="1"/>
          <p:nvPr/>
        </p:nvSpPr>
        <p:spPr>
          <a:xfrm>
            <a:off x="904875" y="1805880"/>
            <a:ext cx="16954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293B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38.84M</a:t>
            </a:r>
            <a:endParaRPr/>
          </a:p>
        </p:txBody>
      </p:sp>
      <p:sp>
        <p:nvSpPr>
          <p:cNvPr id="168" name="Google Shape;168;p16"/>
          <p:cNvSpPr txBox="1"/>
          <p:nvPr/>
        </p:nvSpPr>
        <p:spPr>
          <a:xfrm>
            <a:off x="904875" y="2244030"/>
            <a:ext cx="169545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TOTAL CONSUMPTION (TWH)</a:t>
            </a:r>
            <a:endParaRPr/>
          </a:p>
        </p:txBody>
      </p:sp>
      <p:sp>
        <p:nvSpPr>
          <p:cNvPr id="169" name="Google Shape;169;p16"/>
          <p:cNvSpPr txBox="1"/>
          <p:nvPr/>
        </p:nvSpPr>
        <p:spPr>
          <a:xfrm>
            <a:off x="3076575" y="1805880"/>
            <a:ext cx="16954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B7A57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25.27%</a:t>
            </a:r>
            <a:endParaRPr/>
          </a:p>
        </p:txBody>
      </p:sp>
      <p:sp>
        <p:nvSpPr>
          <p:cNvPr id="170" name="Google Shape;170;p16"/>
          <p:cNvSpPr txBox="1"/>
          <p:nvPr/>
        </p:nvSpPr>
        <p:spPr>
          <a:xfrm>
            <a:off x="3076575" y="2244030"/>
            <a:ext cx="169545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RENEWABLE SHARE</a:t>
            </a:r>
            <a:endParaRPr/>
          </a:p>
        </p:txBody>
      </p:sp>
      <p:sp>
        <p:nvSpPr>
          <p:cNvPr id="171" name="Google Shape;171;p16"/>
          <p:cNvSpPr txBox="1"/>
          <p:nvPr/>
        </p:nvSpPr>
        <p:spPr>
          <a:xfrm>
            <a:off x="5248275" y="1805880"/>
            <a:ext cx="16954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293B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9.14%</a:t>
            </a:r>
            <a:endParaRPr/>
          </a:p>
        </p:txBody>
      </p:sp>
      <p:sp>
        <p:nvSpPr>
          <p:cNvPr id="172" name="Google Shape;172;p16"/>
          <p:cNvSpPr txBox="1"/>
          <p:nvPr/>
        </p:nvSpPr>
        <p:spPr>
          <a:xfrm>
            <a:off x="5248275" y="2244030"/>
            <a:ext cx="169545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YOY GROWTH RATE</a:t>
            </a:r>
            <a:endParaRPr/>
          </a:p>
        </p:txBody>
      </p:sp>
      <p:sp>
        <p:nvSpPr>
          <p:cNvPr id="173" name="Google Shape;173;p16"/>
          <p:cNvSpPr txBox="1"/>
          <p:nvPr/>
        </p:nvSpPr>
        <p:spPr>
          <a:xfrm>
            <a:off x="7419975" y="1805880"/>
            <a:ext cx="16954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DDA15E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307.98</a:t>
            </a:r>
            <a:endParaRPr/>
          </a:p>
        </p:txBody>
      </p:sp>
      <p:sp>
        <p:nvSpPr>
          <p:cNvPr id="174" name="Google Shape;174;p16"/>
          <p:cNvSpPr txBox="1"/>
          <p:nvPr/>
        </p:nvSpPr>
        <p:spPr>
          <a:xfrm>
            <a:off x="7419975" y="2244030"/>
            <a:ext cx="169545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CARBON INTENSITY (GCO2E/KWH)</a:t>
            </a:r>
            <a:endParaRPr/>
          </a:p>
        </p:txBody>
      </p:sp>
      <p:sp>
        <p:nvSpPr>
          <p:cNvPr id="175" name="Google Shape;175;p16"/>
          <p:cNvSpPr txBox="1"/>
          <p:nvPr/>
        </p:nvSpPr>
        <p:spPr>
          <a:xfrm>
            <a:off x="9591675" y="1805880"/>
            <a:ext cx="16954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293B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1.99M</a:t>
            </a:r>
            <a:endParaRPr/>
          </a:p>
        </p:txBody>
      </p:sp>
      <p:sp>
        <p:nvSpPr>
          <p:cNvPr id="176" name="Google Shape;176;p16"/>
          <p:cNvSpPr txBox="1"/>
          <p:nvPr/>
        </p:nvSpPr>
        <p:spPr>
          <a:xfrm>
            <a:off x="9591675" y="2244030"/>
            <a:ext cx="169545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GLOBAL GHG EMISSIONS</a:t>
            </a:r>
            <a:endParaRPr/>
          </a:p>
        </p:txBody>
      </p:sp>
      <p:pic>
        <p:nvPicPr>
          <p:cNvPr id="177" name="Google Shape;177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62000" y="6243637"/>
            <a:ext cx="13335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6"/>
          <p:cNvSpPr txBox="1"/>
          <p:nvPr/>
        </p:nvSpPr>
        <p:spPr>
          <a:xfrm>
            <a:off x="6486525" y="3608040"/>
            <a:ext cx="498062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4A7596"/>
                </a:solidFill>
                <a:latin typeface="Poppins"/>
                <a:ea typeface="Poppins"/>
                <a:cs typeface="Poppins"/>
                <a:sym typeface="Poppins"/>
              </a:rPr>
              <a:t>GLOBAL ADOPTION VS. TARGET GAUGE</a:t>
            </a:r>
            <a:endParaRPr/>
          </a:p>
        </p:txBody>
      </p:sp>
      <p:sp>
        <p:nvSpPr>
          <p:cNvPr id="179" name="Google Shape;179;p16"/>
          <p:cNvSpPr txBox="1"/>
          <p:nvPr/>
        </p:nvSpPr>
        <p:spPr>
          <a:xfrm>
            <a:off x="1028700" y="3149203"/>
            <a:ext cx="48768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The 2030 Deployment Gap: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Dashboard diagnostics in dashboard to track our current </a:t>
            </a:r>
            <a:r>
              <a:rPr lang="en-US" sz="1200" b="0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25.27% Renewable Share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against the </a:t>
            </a:r>
            <a:r>
              <a:rPr lang="en-US" sz="1200" b="0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60.00% target trajectory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plotted on the Gauge visual.</a:t>
            </a:r>
            <a:endParaRPr dirty="0"/>
          </a:p>
        </p:txBody>
      </p:sp>
      <p:sp>
        <p:nvSpPr>
          <p:cNvPr id="180" name="Google Shape;180;p16"/>
          <p:cNvSpPr txBox="1"/>
          <p:nvPr/>
        </p:nvSpPr>
        <p:spPr>
          <a:xfrm>
            <a:off x="1028700" y="4051994"/>
            <a:ext cx="48768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Grid Decoupling: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Overlapping line and combo charts verify that total global demand is scaling, yet our Carbon Intensity curve is structurally declining.</a:t>
            </a:r>
            <a:endParaRPr/>
          </a:p>
        </p:txBody>
      </p:sp>
      <p:sp>
        <p:nvSpPr>
          <p:cNvPr id="181" name="Google Shape;181;p16"/>
          <p:cNvSpPr txBox="1"/>
          <p:nvPr/>
        </p:nvSpPr>
        <p:spPr>
          <a:xfrm>
            <a:off x="1028700" y="4954785"/>
            <a:ext cx="48768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Volume Surge: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Standardized fossil baseline remains heavy, while renewable and cleaner grid deployment is accelerating exponentially post-2000.</a:t>
            </a:r>
            <a:endParaRPr/>
          </a:p>
        </p:txBody>
      </p:sp>
      <p:pic>
        <p:nvPicPr>
          <p:cNvPr id="182" name="Google Shape;182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86525" y="3941415"/>
            <a:ext cx="47434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6"/>
          <p:cNvSpPr txBox="1"/>
          <p:nvPr/>
        </p:nvSpPr>
        <p:spPr>
          <a:xfrm>
            <a:off x="762000" y="3168253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DDA15E"/>
                </a:solidFill>
                <a:latin typeface="Lato"/>
                <a:ea typeface="Lato"/>
                <a:cs typeface="Lato"/>
                <a:sym typeface="Lato"/>
              </a:rPr>
              <a:t>■</a:t>
            </a:r>
            <a:endParaRPr/>
          </a:p>
        </p:txBody>
      </p:sp>
      <p:sp>
        <p:nvSpPr>
          <p:cNvPr id="184" name="Google Shape;184;p16"/>
          <p:cNvSpPr txBox="1"/>
          <p:nvPr/>
        </p:nvSpPr>
        <p:spPr>
          <a:xfrm>
            <a:off x="762000" y="4071044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DDA15E"/>
                </a:solidFill>
                <a:latin typeface="Lato"/>
                <a:ea typeface="Lato"/>
                <a:cs typeface="Lato"/>
                <a:sym typeface="Lato"/>
              </a:rPr>
              <a:t>■</a:t>
            </a:r>
            <a:endParaRPr/>
          </a:p>
        </p:txBody>
      </p:sp>
      <p:sp>
        <p:nvSpPr>
          <p:cNvPr id="185" name="Google Shape;185;p16"/>
          <p:cNvSpPr txBox="1"/>
          <p:nvPr/>
        </p:nvSpPr>
        <p:spPr>
          <a:xfrm>
            <a:off x="762000" y="4973835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DDA15E"/>
                </a:solidFill>
                <a:latin typeface="Lato"/>
                <a:ea typeface="Lato"/>
                <a:cs typeface="Lato"/>
                <a:sym typeface="Lato"/>
              </a:rPr>
              <a:t>■</a:t>
            </a:r>
            <a:endParaRPr/>
          </a:p>
        </p:txBody>
      </p:sp>
      <p:sp>
        <p:nvSpPr>
          <p:cNvPr id="186" name="Google Shape;186;p16"/>
          <p:cNvSpPr txBox="1"/>
          <p:nvPr/>
        </p:nvSpPr>
        <p:spPr>
          <a:xfrm>
            <a:off x="762000" y="476250"/>
            <a:ext cx="1120140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Dashboard I: Global Energy Transition</a:t>
            </a:r>
            <a:endParaRPr/>
          </a:p>
        </p:txBody>
      </p:sp>
      <p:sp>
        <p:nvSpPr>
          <p:cNvPr id="187" name="Google Shape;187;p16"/>
          <p:cNvSpPr txBox="1"/>
          <p:nvPr/>
        </p:nvSpPr>
        <p:spPr>
          <a:xfrm>
            <a:off x="933450" y="1047750"/>
            <a:ext cx="10496550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Analyzing Baseline Diagnostics and Decoupling Metrics</a:t>
            </a:r>
            <a:endParaRPr dirty="0"/>
          </a:p>
        </p:txBody>
      </p:sp>
      <p:sp>
        <p:nvSpPr>
          <p:cNvPr id="188" name="Google Shape;188;p16"/>
          <p:cNvSpPr/>
          <p:nvPr/>
        </p:nvSpPr>
        <p:spPr>
          <a:xfrm>
            <a:off x="762000" y="1000125"/>
            <a:ext cx="57150" cy="342900"/>
          </a:xfrm>
          <a:prstGeom prst="roundRect">
            <a:avLst>
              <a:gd name="adj" fmla="val 50000"/>
            </a:avLst>
          </a:prstGeom>
          <a:solidFill>
            <a:srgbClr val="4A75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624905"/>
            <a:ext cx="1981200" cy="88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33700" y="1624905"/>
            <a:ext cx="1981200" cy="88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105400" y="1624905"/>
            <a:ext cx="1981200" cy="88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77100" y="1624905"/>
            <a:ext cx="1981200" cy="88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448800" y="1624905"/>
            <a:ext cx="1981200" cy="88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86500" y="3087290"/>
            <a:ext cx="51435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62000" y="6086475"/>
            <a:ext cx="10668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7"/>
          <p:cNvSpPr txBox="1"/>
          <p:nvPr/>
        </p:nvSpPr>
        <p:spPr>
          <a:xfrm>
            <a:off x="971550" y="6238875"/>
            <a:ext cx="1933575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4A7596"/>
                </a:solidFill>
                <a:latin typeface="Lato"/>
                <a:ea typeface="Lato"/>
                <a:cs typeface="Lato"/>
                <a:sym typeface="Lato"/>
              </a:rPr>
              <a:t>Geopolitical Sourcing &amp; Policy Leaders</a:t>
            </a:r>
            <a:endParaRPr/>
          </a:p>
        </p:txBody>
      </p:sp>
      <p:sp>
        <p:nvSpPr>
          <p:cNvPr id="203" name="Google Shape;203;p17"/>
          <p:cNvSpPr txBox="1"/>
          <p:nvPr/>
        </p:nvSpPr>
        <p:spPr>
          <a:xfrm>
            <a:off x="904875" y="1805880"/>
            <a:ext cx="16954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293B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156.37</a:t>
            </a:r>
            <a:endParaRPr/>
          </a:p>
        </p:txBody>
      </p:sp>
      <p:sp>
        <p:nvSpPr>
          <p:cNvPr id="204" name="Google Shape;204;p17"/>
          <p:cNvSpPr txBox="1"/>
          <p:nvPr/>
        </p:nvSpPr>
        <p:spPr>
          <a:xfrm>
            <a:off x="904875" y="2244030"/>
            <a:ext cx="169545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RENEWABLE PER CAPITA (KWH)</a:t>
            </a:r>
            <a:endParaRPr/>
          </a:p>
        </p:txBody>
      </p:sp>
      <p:sp>
        <p:nvSpPr>
          <p:cNvPr id="205" name="Google Shape;205;p17"/>
          <p:cNvSpPr txBox="1"/>
          <p:nvPr/>
        </p:nvSpPr>
        <p:spPr>
          <a:xfrm>
            <a:off x="3076575" y="1805880"/>
            <a:ext cx="16954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293B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0.04</a:t>
            </a:r>
            <a:endParaRPr/>
          </a:p>
        </p:txBody>
      </p:sp>
      <p:sp>
        <p:nvSpPr>
          <p:cNvPr id="206" name="Google Shape;206;p17"/>
          <p:cNvSpPr txBox="1"/>
          <p:nvPr/>
        </p:nvSpPr>
        <p:spPr>
          <a:xfrm>
            <a:off x="3076575" y="2244030"/>
            <a:ext cx="169545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RENEWABLE / GDP RATIO</a:t>
            </a:r>
            <a:endParaRPr/>
          </a:p>
        </p:txBody>
      </p:sp>
      <p:sp>
        <p:nvSpPr>
          <p:cNvPr id="207" name="Google Shape;207;p17"/>
          <p:cNvSpPr txBox="1"/>
          <p:nvPr/>
        </p:nvSpPr>
        <p:spPr>
          <a:xfrm>
            <a:off x="5248275" y="1805880"/>
            <a:ext cx="16954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293B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60.48%</a:t>
            </a:r>
            <a:endParaRPr/>
          </a:p>
        </p:txBody>
      </p:sp>
      <p:sp>
        <p:nvSpPr>
          <p:cNvPr id="208" name="Google Shape;208;p17"/>
          <p:cNvSpPr txBox="1"/>
          <p:nvPr/>
        </p:nvSpPr>
        <p:spPr>
          <a:xfrm>
            <a:off x="5248275" y="2244030"/>
            <a:ext cx="169545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FOSSIL MIX</a:t>
            </a:r>
            <a:endParaRPr/>
          </a:p>
        </p:txBody>
      </p:sp>
      <p:sp>
        <p:nvSpPr>
          <p:cNvPr id="209" name="Google Shape;209;p17"/>
          <p:cNvSpPr txBox="1"/>
          <p:nvPr/>
        </p:nvSpPr>
        <p:spPr>
          <a:xfrm>
            <a:off x="7419975" y="1805880"/>
            <a:ext cx="16954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B7A57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25.27%</a:t>
            </a:r>
            <a:endParaRPr/>
          </a:p>
        </p:txBody>
      </p:sp>
      <p:sp>
        <p:nvSpPr>
          <p:cNvPr id="210" name="Google Shape;210;p17"/>
          <p:cNvSpPr txBox="1"/>
          <p:nvPr/>
        </p:nvSpPr>
        <p:spPr>
          <a:xfrm>
            <a:off x="7419975" y="2244030"/>
            <a:ext cx="169545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RENEWABLE MIX</a:t>
            </a:r>
            <a:endParaRPr/>
          </a:p>
        </p:txBody>
      </p:sp>
      <p:sp>
        <p:nvSpPr>
          <p:cNvPr id="211" name="Google Shape;211;p17"/>
          <p:cNvSpPr txBox="1"/>
          <p:nvPr/>
        </p:nvSpPr>
        <p:spPr>
          <a:xfrm>
            <a:off x="9591675" y="1805880"/>
            <a:ext cx="16954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DDA15E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14.24%</a:t>
            </a:r>
            <a:endParaRPr/>
          </a:p>
        </p:txBody>
      </p:sp>
      <p:sp>
        <p:nvSpPr>
          <p:cNvPr id="212" name="Google Shape;212;p17"/>
          <p:cNvSpPr txBox="1"/>
          <p:nvPr/>
        </p:nvSpPr>
        <p:spPr>
          <a:xfrm>
            <a:off x="9591675" y="2244030"/>
            <a:ext cx="169545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NUCLEAR MIX</a:t>
            </a:r>
            <a:endParaRPr/>
          </a:p>
        </p:txBody>
      </p:sp>
      <p:pic>
        <p:nvPicPr>
          <p:cNvPr id="213" name="Google Shape;213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62000" y="6243637"/>
            <a:ext cx="13335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7"/>
          <p:cNvSpPr txBox="1"/>
          <p:nvPr/>
        </p:nvSpPr>
        <p:spPr>
          <a:xfrm>
            <a:off x="6438900" y="3239690"/>
            <a:ext cx="508063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TOP COUNTRIES BY RENEWABLE GENERATION (TWH)</a:t>
            </a:r>
            <a:endParaRPr/>
          </a:p>
        </p:txBody>
      </p:sp>
      <p:sp>
        <p:nvSpPr>
          <p:cNvPr id="215" name="Google Shape;215;p17"/>
          <p:cNvSpPr txBox="1"/>
          <p:nvPr/>
        </p:nvSpPr>
        <p:spPr>
          <a:xfrm>
            <a:off x="1028700" y="3087290"/>
            <a:ext cx="48768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Geopolitical Volume: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Metrics in </a:t>
            </a:r>
            <a:r>
              <a:rPr lang="en-US" sz="120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our dashboard to 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reveal that </a:t>
            </a:r>
            <a:r>
              <a:rPr lang="en-US" sz="12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China (36K TWh)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and the </a:t>
            </a:r>
            <a:r>
              <a:rPr lang="en-US" sz="12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United States (27K TWh)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absolutely dominate global clean generation volume.</a:t>
            </a:r>
            <a:endParaRPr dirty="0"/>
          </a:p>
        </p:txBody>
      </p:sp>
      <p:sp>
        <p:nvSpPr>
          <p:cNvPr id="216" name="Google Shape;216;p17"/>
          <p:cNvSpPr txBox="1"/>
          <p:nvPr/>
        </p:nvSpPr>
        <p:spPr>
          <a:xfrm>
            <a:off x="1028700" y="3990082"/>
            <a:ext cx="48768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The GDP Paradox: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Scatter plot correlation proves that absolute GDP output provides deployment capacity, but does not guarantee a high percentage of grid-level transition.</a:t>
            </a:r>
            <a:endParaRPr dirty="0"/>
          </a:p>
        </p:txBody>
      </p:sp>
      <p:sp>
        <p:nvSpPr>
          <p:cNvPr id="217" name="Google Shape;217;p17"/>
          <p:cNvSpPr txBox="1"/>
          <p:nvPr/>
        </p:nvSpPr>
        <p:spPr>
          <a:xfrm>
            <a:off x="1028700" y="4892873"/>
            <a:ext cx="48768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The Clean Backbone: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Hydro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remains our dominant clean resource globally, representing </a:t>
            </a:r>
            <a:r>
              <a:rPr lang="en-US" sz="12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70.44%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of the renewable mix, followed by Wind (11.59%).</a:t>
            </a:r>
            <a:endParaRPr dirty="0"/>
          </a:p>
        </p:txBody>
      </p:sp>
      <p:sp>
        <p:nvSpPr>
          <p:cNvPr id="218" name="Google Shape;218;p17"/>
          <p:cNvSpPr txBox="1"/>
          <p:nvPr/>
        </p:nvSpPr>
        <p:spPr>
          <a:xfrm>
            <a:off x="762000" y="3106340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DDA15E"/>
                </a:solidFill>
                <a:latin typeface="Lato"/>
                <a:ea typeface="Lato"/>
                <a:cs typeface="Lato"/>
                <a:sym typeface="Lato"/>
              </a:rPr>
              <a:t>■</a:t>
            </a:r>
            <a:endParaRPr/>
          </a:p>
        </p:txBody>
      </p:sp>
      <p:sp>
        <p:nvSpPr>
          <p:cNvPr id="219" name="Google Shape;219;p17"/>
          <p:cNvSpPr txBox="1"/>
          <p:nvPr/>
        </p:nvSpPr>
        <p:spPr>
          <a:xfrm>
            <a:off x="762000" y="4009132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DDA15E"/>
                </a:solidFill>
                <a:latin typeface="Lato"/>
                <a:ea typeface="Lato"/>
                <a:cs typeface="Lato"/>
                <a:sym typeface="Lato"/>
              </a:rPr>
              <a:t>■</a:t>
            </a:r>
            <a:endParaRPr/>
          </a:p>
        </p:txBody>
      </p:sp>
      <p:sp>
        <p:nvSpPr>
          <p:cNvPr id="220" name="Google Shape;220;p17"/>
          <p:cNvSpPr txBox="1"/>
          <p:nvPr/>
        </p:nvSpPr>
        <p:spPr>
          <a:xfrm>
            <a:off x="762000" y="4911923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DDA15E"/>
                </a:solidFill>
                <a:latin typeface="Lato"/>
                <a:ea typeface="Lato"/>
                <a:cs typeface="Lato"/>
                <a:sym typeface="Lato"/>
              </a:rPr>
              <a:t>■</a:t>
            </a:r>
            <a:endParaRPr/>
          </a:p>
        </p:txBody>
      </p:sp>
      <p:sp>
        <p:nvSpPr>
          <p:cNvPr id="221" name="Google Shape;221;p17"/>
          <p:cNvSpPr txBox="1"/>
          <p:nvPr/>
        </p:nvSpPr>
        <p:spPr>
          <a:xfrm>
            <a:off x="762000" y="476250"/>
            <a:ext cx="1120140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Dashboard II: Policy &amp; Country Leaders</a:t>
            </a:r>
            <a:endParaRPr/>
          </a:p>
        </p:txBody>
      </p:sp>
      <p:sp>
        <p:nvSpPr>
          <p:cNvPr id="222" name="Google Shape;222;p17"/>
          <p:cNvSpPr txBox="1"/>
          <p:nvPr/>
        </p:nvSpPr>
        <p:spPr>
          <a:xfrm>
            <a:off x="933450" y="1047750"/>
            <a:ext cx="10496550" cy="64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Geopolitical Benchmarking and Resource Allocation Models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3" name="Google Shape;223;p17"/>
          <p:cNvSpPr/>
          <p:nvPr/>
        </p:nvSpPr>
        <p:spPr>
          <a:xfrm>
            <a:off x="762000" y="1000125"/>
            <a:ext cx="57150" cy="342900"/>
          </a:xfrm>
          <a:prstGeom prst="roundRect">
            <a:avLst>
              <a:gd name="adj" fmla="val 50000"/>
            </a:avLst>
          </a:prstGeom>
          <a:solidFill>
            <a:srgbClr val="4A75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624905"/>
            <a:ext cx="1981200" cy="100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933700" y="1624905"/>
            <a:ext cx="1981200" cy="100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105400" y="1624905"/>
            <a:ext cx="1981200" cy="100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277100" y="1624905"/>
            <a:ext cx="4152900" cy="100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2000" y="6086475"/>
            <a:ext cx="10668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8"/>
          <p:cNvSpPr txBox="1"/>
          <p:nvPr/>
        </p:nvSpPr>
        <p:spPr>
          <a:xfrm>
            <a:off x="971550" y="6238875"/>
            <a:ext cx="220980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4A7596"/>
                </a:solidFill>
                <a:latin typeface="Lato"/>
                <a:ea typeface="Lato"/>
                <a:cs typeface="Lato"/>
                <a:sym typeface="Lato"/>
              </a:rPr>
              <a:t>Grid Composition &amp; Performance Efficiency</a:t>
            </a:r>
            <a:endParaRPr/>
          </a:p>
        </p:txBody>
      </p:sp>
      <p:sp>
        <p:nvSpPr>
          <p:cNvPr id="236" name="Google Shape;236;p18"/>
          <p:cNvSpPr txBox="1"/>
          <p:nvPr/>
        </p:nvSpPr>
        <p:spPr>
          <a:xfrm>
            <a:off x="904875" y="1805880"/>
            <a:ext cx="16954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293B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171.3M</a:t>
            </a:r>
            <a:endParaRPr/>
          </a:p>
        </p:txBody>
      </p:sp>
      <p:sp>
        <p:nvSpPr>
          <p:cNvPr id="237" name="Google Shape;237;p18"/>
          <p:cNvSpPr txBox="1"/>
          <p:nvPr/>
        </p:nvSpPr>
        <p:spPr>
          <a:xfrm>
            <a:off x="904875" y="2244030"/>
            <a:ext cx="169545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ENERGY INTENSITY (KWH/$1B GDP)</a:t>
            </a:r>
            <a:endParaRPr/>
          </a:p>
        </p:txBody>
      </p:sp>
      <p:sp>
        <p:nvSpPr>
          <p:cNvPr id="238" name="Google Shape;238;p18"/>
          <p:cNvSpPr txBox="1"/>
          <p:nvPr/>
        </p:nvSpPr>
        <p:spPr>
          <a:xfrm>
            <a:off x="3076575" y="1805880"/>
            <a:ext cx="16954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B7A57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307.98</a:t>
            </a:r>
            <a:endParaRPr/>
          </a:p>
        </p:txBody>
      </p:sp>
      <p:sp>
        <p:nvSpPr>
          <p:cNvPr id="239" name="Google Shape;239;p18"/>
          <p:cNvSpPr txBox="1"/>
          <p:nvPr/>
        </p:nvSpPr>
        <p:spPr>
          <a:xfrm>
            <a:off x="3076575" y="2244030"/>
            <a:ext cx="1695450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CARBON INTENSITY (GCO2E/KWH)</a:t>
            </a:r>
            <a:endParaRPr/>
          </a:p>
        </p:txBody>
      </p:sp>
      <p:sp>
        <p:nvSpPr>
          <p:cNvPr id="240" name="Google Shape;240;p18"/>
          <p:cNvSpPr txBox="1"/>
          <p:nvPr/>
        </p:nvSpPr>
        <p:spPr>
          <a:xfrm>
            <a:off x="5248275" y="1805880"/>
            <a:ext cx="16954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DDA15E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6.16%</a:t>
            </a:r>
            <a:endParaRPr/>
          </a:p>
        </p:txBody>
      </p:sp>
      <p:sp>
        <p:nvSpPr>
          <p:cNvPr id="241" name="Google Shape;241;p18"/>
          <p:cNvSpPr txBox="1"/>
          <p:nvPr/>
        </p:nvSpPr>
        <p:spPr>
          <a:xfrm>
            <a:off x="5248275" y="2244030"/>
            <a:ext cx="169545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RENEWABLE CAGR (10YR)</a:t>
            </a:r>
            <a:endParaRPr/>
          </a:p>
        </p:txBody>
      </p:sp>
      <p:sp>
        <p:nvSpPr>
          <p:cNvPr id="242" name="Google Shape;242;p18"/>
          <p:cNvSpPr txBox="1"/>
          <p:nvPr/>
        </p:nvSpPr>
        <p:spPr>
          <a:xfrm>
            <a:off x="7419975" y="1805880"/>
            <a:ext cx="38671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1E293B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Hydro</a:t>
            </a:r>
            <a:endParaRPr/>
          </a:p>
        </p:txBody>
      </p:sp>
      <p:sp>
        <p:nvSpPr>
          <p:cNvPr id="243" name="Google Shape;243;p18"/>
          <p:cNvSpPr txBox="1"/>
          <p:nvPr/>
        </p:nvSpPr>
        <p:spPr>
          <a:xfrm>
            <a:off x="7419975" y="2244030"/>
            <a:ext cx="3867150" cy="12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1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TOP RENEWABLE SOURCE (BY SHARE)</a:t>
            </a:r>
            <a:endParaRPr/>
          </a:p>
        </p:txBody>
      </p:sp>
      <p:pic>
        <p:nvPicPr>
          <p:cNvPr id="244" name="Google Shape;244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62000" y="6243637"/>
            <a:ext cx="13335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8"/>
          <p:cNvSpPr txBox="1"/>
          <p:nvPr/>
        </p:nvSpPr>
        <p:spPr>
          <a:xfrm>
            <a:off x="1028700" y="3031033"/>
            <a:ext cx="4876800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Systemic Efficiency: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Metrics in our Dashboard record a global Energy Intensity profile of </a:t>
            </a:r>
            <a:r>
              <a:rPr lang="en-US" sz="1200" b="0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171.3M kWh per $1B GDP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246" name="Google Shape;246;p18"/>
          <p:cNvSpPr txBox="1"/>
          <p:nvPr/>
        </p:nvSpPr>
        <p:spPr>
          <a:xfrm>
            <a:off x="1028700" y="3690044"/>
            <a:ext cx="48768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Exponential Adoption: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While Hydro has plateaued, </a:t>
            </a:r>
            <a:r>
              <a:rPr lang="en-US" sz="12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Wind &amp; Solar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display exponential curves, contributing heavily to our </a:t>
            </a:r>
            <a:r>
              <a:rPr lang="en-US" sz="12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6.16% 10-Yr CAGR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trend line.</a:t>
            </a:r>
            <a:endParaRPr dirty="0"/>
          </a:p>
        </p:txBody>
      </p:sp>
      <p:sp>
        <p:nvSpPr>
          <p:cNvPr id="247" name="Google Shape;247;p18"/>
          <p:cNvSpPr txBox="1"/>
          <p:nvPr/>
        </p:nvSpPr>
        <p:spPr>
          <a:xfrm>
            <a:off x="1028700" y="4592835"/>
            <a:ext cx="48768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Macro Emissions Concentration: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Global carbon footprint is highly concentrated: </a:t>
            </a:r>
            <a:r>
              <a:rPr lang="en-US" sz="12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India (25.17%)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2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China (24.07%)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and </a:t>
            </a:r>
            <a:r>
              <a:rPr lang="en-US" sz="12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US (17.98%)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drive over 67% of global emission weight.</a:t>
            </a:r>
            <a:endParaRPr dirty="0"/>
          </a:p>
        </p:txBody>
      </p:sp>
      <p:sp>
        <p:nvSpPr>
          <p:cNvPr id="248" name="Google Shape;248;p18"/>
          <p:cNvSpPr txBox="1"/>
          <p:nvPr/>
        </p:nvSpPr>
        <p:spPr>
          <a:xfrm>
            <a:off x="762000" y="3050083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DDA15E"/>
                </a:solidFill>
                <a:latin typeface="Lato"/>
                <a:ea typeface="Lato"/>
                <a:cs typeface="Lato"/>
                <a:sym typeface="Lato"/>
              </a:rPr>
              <a:t>■</a:t>
            </a:r>
            <a:endParaRPr/>
          </a:p>
        </p:txBody>
      </p:sp>
      <p:sp>
        <p:nvSpPr>
          <p:cNvPr id="249" name="Google Shape;249;p18"/>
          <p:cNvSpPr txBox="1"/>
          <p:nvPr/>
        </p:nvSpPr>
        <p:spPr>
          <a:xfrm>
            <a:off x="762000" y="3709094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DDA15E"/>
                </a:solidFill>
                <a:latin typeface="Lato"/>
                <a:ea typeface="Lato"/>
                <a:cs typeface="Lato"/>
                <a:sym typeface="Lato"/>
              </a:rPr>
              <a:t>■</a:t>
            </a:r>
            <a:endParaRPr/>
          </a:p>
        </p:txBody>
      </p:sp>
      <p:sp>
        <p:nvSpPr>
          <p:cNvPr id="250" name="Google Shape;250;p18"/>
          <p:cNvSpPr txBox="1"/>
          <p:nvPr/>
        </p:nvSpPr>
        <p:spPr>
          <a:xfrm>
            <a:off x="762000" y="4611885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DDA15E"/>
                </a:solidFill>
                <a:latin typeface="Lato"/>
                <a:ea typeface="Lato"/>
                <a:cs typeface="Lato"/>
                <a:sym typeface="Lato"/>
              </a:rPr>
              <a:t>■</a:t>
            </a:r>
            <a:endParaRPr/>
          </a:p>
        </p:txBody>
      </p:sp>
      <p:sp>
        <p:nvSpPr>
          <p:cNvPr id="251" name="Google Shape;251;p18"/>
          <p:cNvSpPr/>
          <p:nvPr/>
        </p:nvSpPr>
        <p:spPr>
          <a:xfrm>
            <a:off x="6286500" y="3031033"/>
            <a:ext cx="2476500" cy="2944674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2" name="Google Shape;252;p18"/>
          <p:cNvGraphicFramePr/>
          <p:nvPr>
            <p:extLst>
              <p:ext uri="{D42A27DB-BD31-4B8C-83A1-F6EECF244321}">
                <p14:modId xmlns:p14="http://schemas.microsoft.com/office/powerpoint/2010/main" val="309418526"/>
              </p:ext>
            </p:extLst>
          </p:nvPr>
        </p:nvGraphicFramePr>
        <p:xfrm>
          <a:off x="6292362" y="3031031"/>
          <a:ext cx="2466975" cy="2944674"/>
        </p:xfrm>
        <a:graphic>
          <a:graphicData uri="http://schemas.openxmlformats.org/drawingml/2006/table">
            <a:tbl>
              <a:tblPr firstRow="1" bandRow="1">
                <a:noFill/>
                <a:tableStyleId>{461A3717-D86A-4C7F-9628-D1737EF4A46E}</a:tableStyleId>
              </a:tblPr>
              <a:tblGrid>
                <a:gridCol w="1303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3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077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Top Emitters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A759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Footprint 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A75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77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India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25.17%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77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China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24.07%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77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United States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17.98%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77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Japan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17.29%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077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Russia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15.49%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3" name="Google Shape;253;p18"/>
          <p:cNvSpPr/>
          <p:nvPr/>
        </p:nvSpPr>
        <p:spPr>
          <a:xfrm>
            <a:off x="8953500" y="3031033"/>
            <a:ext cx="2476500" cy="2944713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4" name="Google Shape;254;p18"/>
          <p:cNvGraphicFramePr/>
          <p:nvPr/>
        </p:nvGraphicFramePr>
        <p:xfrm>
          <a:off x="8953500" y="3031033"/>
          <a:ext cx="2466975" cy="2944675"/>
        </p:xfrm>
        <a:graphic>
          <a:graphicData uri="http://schemas.openxmlformats.org/drawingml/2006/table">
            <a:tbl>
              <a:tblPr firstRow="1" bandRow="1">
                <a:noFill/>
                <a:tableStyleId>{461A3717-D86A-4C7F-9628-D1737EF4A46E}</a:tableStyleId>
              </a:tblPr>
              <a:tblGrid>
                <a:gridCol w="13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4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0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Clean Contributor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A759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TWh Volume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A75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United States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161.33K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China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141.83K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Japan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43.58K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Russia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40.42K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0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Canada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28.36K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71" name="Google Shape;271;p18"/>
          <p:cNvSpPr txBox="1"/>
          <p:nvPr/>
        </p:nvSpPr>
        <p:spPr>
          <a:xfrm>
            <a:off x="762000" y="476250"/>
            <a:ext cx="1120140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Dashboard III: Sustainability Trends</a:t>
            </a:r>
            <a:endParaRPr/>
          </a:p>
        </p:txBody>
      </p:sp>
      <p:sp>
        <p:nvSpPr>
          <p:cNvPr id="272" name="Google Shape;272;p18"/>
          <p:cNvSpPr txBox="1"/>
          <p:nvPr/>
        </p:nvSpPr>
        <p:spPr>
          <a:xfrm>
            <a:off x="933450" y="1047750"/>
            <a:ext cx="10496550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Efficiency Metrics, CAGR Analysis, and Footprint Concentration</a:t>
            </a:r>
            <a:endParaRPr dirty="0"/>
          </a:p>
        </p:txBody>
      </p:sp>
      <p:sp>
        <p:nvSpPr>
          <p:cNvPr id="273" name="Google Shape;273;p18"/>
          <p:cNvSpPr/>
          <p:nvPr/>
        </p:nvSpPr>
        <p:spPr>
          <a:xfrm>
            <a:off x="762000" y="1000125"/>
            <a:ext cx="57150" cy="342900"/>
          </a:xfrm>
          <a:prstGeom prst="roundRect">
            <a:avLst>
              <a:gd name="adj" fmla="val 50000"/>
            </a:avLst>
          </a:prstGeom>
          <a:solidFill>
            <a:srgbClr val="4A75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00850" y="2045940"/>
            <a:ext cx="462915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6086475"/>
            <a:ext cx="10668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19"/>
          <p:cNvSpPr txBox="1"/>
          <p:nvPr/>
        </p:nvSpPr>
        <p:spPr>
          <a:xfrm>
            <a:off x="942975" y="6238875"/>
            <a:ext cx="1504950" cy="142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4A7596"/>
                </a:solidFill>
                <a:latin typeface="Lato"/>
                <a:ea typeface="Lato"/>
                <a:cs typeface="Lato"/>
                <a:sym typeface="Lato"/>
              </a:rPr>
              <a:t>Project Diagnostic Takeaways</a:t>
            </a:r>
            <a:endParaRPr/>
          </a:p>
        </p:txBody>
      </p:sp>
      <p:sp>
        <p:nvSpPr>
          <p:cNvPr id="282" name="Google Shape;282;p19"/>
          <p:cNvSpPr txBox="1"/>
          <p:nvPr/>
        </p:nvSpPr>
        <p:spPr>
          <a:xfrm>
            <a:off x="10896600" y="6238875"/>
            <a:ext cx="5334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283" name="Google Shape;283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6243637"/>
            <a:ext cx="104775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810375" y="2055465"/>
            <a:ext cx="461010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9"/>
          <p:cNvSpPr txBox="1"/>
          <p:nvPr/>
        </p:nvSpPr>
        <p:spPr>
          <a:xfrm>
            <a:off x="1028700" y="2045940"/>
            <a:ext cx="539115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The Technology Transition Pivot: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Hydroelectricity serves as our grid base, but Wind and Solar represent the explosive hockey-stick CAGR growth curves necessary to track toward 2030 climate goals.</a:t>
            </a:r>
            <a:endParaRPr/>
          </a:p>
        </p:txBody>
      </p:sp>
      <p:sp>
        <p:nvSpPr>
          <p:cNvPr id="286" name="Google Shape;286;p19"/>
          <p:cNvSpPr txBox="1"/>
          <p:nvPr/>
        </p:nvSpPr>
        <p:spPr>
          <a:xfrm>
            <a:off x="1028700" y="3005881"/>
            <a:ext cx="539115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Macroeconomic Decoupling: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Rigorous modeling verified that gross domestic product (GDP) can continue scaling cleanly while Carbon Intensity displays a concurrent downward path.</a:t>
            </a:r>
            <a:endParaRPr/>
          </a:p>
        </p:txBody>
      </p:sp>
      <p:sp>
        <p:nvSpPr>
          <p:cNvPr id="287" name="Google Shape;287;p19"/>
          <p:cNvSpPr txBox="1"/>
          <p:nvPr/>
        </p:nvSpPr>
        <p:spPr>
          <a:xfrm>
            <a:off x="1028700" y="3965823"/>
            <a:ext cx="539115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Geopolitical &amp; Sourcing Realities: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The transition remains highly uneven. Transition speed is heavily dictated by targeted, localized policy intervention within G3 borders (US, China, India).</a:t>
            </a:r>
            <a:endParaRPr/>
          </a:p>
        </p:txBody>
      </p:sp>
      <p:sp>
        <p:nvSpPr>
          <p:cNvPr id="288" name="Google Shape;288;p19"/>
          <p:cNvSpPr txBox="1"/>
          <p:nvPr/>
        </p:nvSpPr>
        <p:spPr>
          <a:xfrm>
            <a:off x="1028700" y="4925764"/>
            <a:ext cx="539115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Relational Model Longevity: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Selecting a normalized 1:N Star Schema structure was our most critical backend decision, permitting complex time-intelligence filters without visual lag or calculation crashes.</a:t>
            </a:r>
            <a:endParaRPr/>
          </a:p>
        </p:txBody>
      </p:sp>
      <p:sp>
        <p:nvSpPr>
          <p:cNvPr id="289" name="Google Shape;289;p19"/>
          <p:cNvSpPr txBox="1"/>
          <p:nvPr/>
        </p:nvSpPr>
        <p:spPr>
          <a:xfrm>
            <a:off x="762000" y="2064990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DDA15E"/>
                </a:solidFill>
                <a:latin typeface="Lato"/>
                <a:ea typeface="Lato"/>
                <a:cs typeface="Lato"/>
                <a:sym typeface="Lato"/>
              </a:rPr>
              <a:t>■</a:t>
            </a:r>
            <a:endParaRPr/>
          </a:p>
        </p:txBody>
      </p:sp>
      <p:sp>
        <p:nvSpPr>
          <p:cNvPr id="290" name="Google Shape;290;p19"/>
          <p:cNvSpPr txBox="1"/>
          <p:nvPr/>
        </p:nvSpPr>
        <p:spPr>
          <a:xfrm>
            <a:off x="762000" y="3024931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DDA15E"/>
                </a:solidFill>
                <a:latin typeface="Lato"/>
                <a:ea typeface="Lato"/>
                <a:cs typeface="Lato"/>
                <a:sym typeface="Lato"/>
              </a:rPr>
              <a:t>■</a:t>
            </a:r>
            <a:endParaRPr/>
          </a:p>
        </p:txBody>
      </p:sp>
      <p:sp>
        <p:nvSpPr>
          <p:cNvPr id="291" name="Google Shape;291;p19"/>
          <p:cNvSpPr txBox="1"/>
          <p:nvPr/>
        </p:nvSpPr>
        <p:spPr>
          <a:xfrm>
            <a:off x="762000" y="3984873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DDA15E"/>
                </a:solidFill>
                <a:latin typeface="Lato"/>
                <a:ea typeface="Lato"/>
                <a:cs typeface="Lato"/>
                <a:sym typeface="Lato"/>
              </a:rPr>
              <a:t>■</a:t>
            </a:r>
            <a:endParaRPr/>
          </a:p>
        </p:txBody>
      </p:sp>
      <p:sp>
        <p:nvSpPr>
          <p:cNvPr id="292" name="Google Shape;292;p19"/>
          <p:cNvSpPr txBox="1"/>
          <p:nvPr/>
        </p:nvSpPr>
        <p:spPr>
          <a:xfrm>
            <a:off x="762000" y="4944814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DDA15E"/>
                </a:solidFill>
                <a:latin typeface="Lato"/>
                <a:ea typeface="Lato"/>
                <a:cs typeface="Lato"/>
                <a:sym typeface="Lato"/>
              </a:rPr>
              <a:t>■</a:t>
            </a:r>
            <a:endParaRPr/>
          </a:p>
        </p:txBody>
      </p:sp>
      <p:sp>
        <p:nvSpPr>
          <p:cNvPr id="293" name="Google Shape;293;p19"/>
          <p:cNvSpPr txBox="1"/>
          <p:nvPr/>
        </p:nvSpPr>
        <p:spPr>
          <a:xfrm>
            <a:off x="762000" y="476250"/>
            <a:ext cx="1120140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Key Strategic Learnings</a:t>
            </a:r>
            <a:endParaRPr/>
          </a:p>
        </p:txBody>
      </p:sp>
      <p:sp>
        <p:nvSpPr>
          <p:cNvPr id="294" name="Google Shape;294;p19"/>
          <p:cNvSpPr txBox="1"/>
          <p:nvPr/>
        </p:nvSpPr>
        <p:spPr>
          <a:xfrm>
            <a:off x="933450" y="1047750"/>
            <a:ext cx="104965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 Technical Post-Mortem on Decarbonization Velocities and Backend Engineering Models</a:t>
            </a:r>
            <a:endParaRPr/>
          </a:p>
        </p:txBody>
      </p:sp>
      <p:sp>
        <p:nvSpPr>
          <p:cNvPr id="295" name="Google Shape;295;p19"/>
          <p:cNvSpPr/>
          <p:nvPr/>
        </p:nvSpPr>
        <p:spPr>
          <a:xfrm>
            <a:off x="762000" y="1000125"/>
            <a:ext cx="57150" cy="342900"/>
          </a:xfrm>
          <a:prstGeom prst="roundRect">
            <a:avLst>
              <a:gd name="adj" fmla="val 50000"/>
            </a:avLst>
          </a:prstGeom>
          <a:solidFill>
            <a:srgbClr val="4A75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395983"/>
            <a:ext cx="5143500" cy="2919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395983"/>
            <a:ext cx="5143500" cy="2919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6086475"/>
            <a:ext cx="106680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0"/>
          <p:cNvSpPr txBox="1"/>
          <p:nvPr/>
        </p:nvSpPr>
        <p:spPr>
          <a:xfrm>
            <a:off x="1323975" y="2691258"/>
            <a:ext cx="4500562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Business Value Synthesis</a:t>
            </a:r>
            <a:endParaRPr/>
          </a:p>
        </p:txBody>
      </p:sp>
      <p:sp>
        <p:nvSpPr>
          <p:cNvPr id="308" name="Google Shape;308;p20"/>
          <p:cNvSpPr txBox="1"/>
          <p:nvPr/>
        </p:nvSpPr>
        <p:spPr>
          <a:xfrm>
            <a:off x="1057275" y="3091308"/>
            <a:ext cx="4552950" cy="728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By engineering a unified data model instead of localized spreadsheets, this solution delivers a centralized, scalable framework for executive decision-making.</a:t>
            </a:r>
            <a:endParaRPr/>
          </a:p>
        </p:txBody>
      </p:sp>
      <p:sp>
        <p:nvSpPr>
          <p:cNvPr id="309" name="Google Shape;309;p20"/>
          <p:cNvSpPr txBox="1"/>
          <p:nvPr/>
        </p:nvSpPr>
        <p:spPr>
          <a:xfrm>
            <a:off x="1057275" y="3934271"/>
            <a:ext cx="45529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It moves beyond basic static statistics, offering deep, comparative visibility into localized grid progress and decoupling status globally.</a:t>
            </a:r>
            <a:endParaRPr/>
          </a:p>
        </p:txBody>
      </p:sp>
      <p:sp>
        <p:nvSpPr>
          <p:cNvPr id="310" name="Google Shape;310;p20"/>
          <p:cNvSpPr txBox="1"/>
          <p:nvPr/>
        </p:nvSpPr>
        <p:spPr>
          <a:xfrm>
            <a:off x="1057275" y="4534346"/>
            <a:ext cx="4552950" cy="366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9955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11" name="Google Shape;311;p20"/>
          <p:cNvSpPr txBox="1"/>
          <p:nvPr/>
        </p:nvSpPr>
        <p:spPr>
          <a:xfrm>
            <a:off x="6867525" y="2691258"/>
            <a:ext cx="448056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Roadmap (2026 and Beyond)</a:t>
            </a:r>
            <a:endParaRPr/>
          </a:p>
        </p:txBody>
      </p:sp>
      <p:pic>
        <p:nvPicPr>
          <p:cNvPr id="312" name="Google Shape;312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57275" y="2738883"/>
            <a:ext cx="1714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81775" y="2738883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0"/>
          <p:cNvSpPr txBox="1"/>
          <p:nvPr/>
        </p:nvSpPr>
        <p:spPr>
          <a:xfrm>
            <a:off x="6848475" y="3091308"/>
            <a:ext cx="4286250" cy="441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7" b="0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Forecasting Ingestion:</a:t>
            </a:r>
            <a:r>
              <a:rPr lang="en-US" sz="1087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Incorporate Machine Learning projection curves inside Power BI to forecast 2030 target status.</a:t>
            </a:r>
            <a:endParaRPr/>
          </a:p>
        </p:txBody>
      </p:sp>
      <p:sp>
        <p:nvSpPr>
          <p:cNvPr id="315" name="Google Shape;315;p20"/>
          <p:cNvSpPr txBox="1"/>
          <p:nvPr/>
        </p:nvSpPr>
        <p:spPr>
          <a:xfrm>
            <a:off x="6848475" y="3647330"/>
            <a:ext cx="4286250" cy="441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7" b="0" i="0" u="none" strike="noStrike" cap="non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Sector-Specific Metrics:</a:t>
            </a:r>
            <a:r>
              <a:rPr lang="en-US" sz="1087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Integrate focused consumption profiles (e.g., Transportation vs. Industrial/Manufacturing consumption splits).</a:t>
            </a:r>
            <a:endParaRPr/>
          </a:p>
        </p:txBody>
      </p:sp>
      <p:sp>
        <p:nvSpPr>
          <p:cNvPr id="316" name="Google Shape;316;p20"/>
          <p:cNvSpPr txBox="1"/>
          <p:nvPr/>
        </p:nvSpPr>
        <p:spPr>
          <a:xfrm>
            <a:off x="6848475" y="4203352"/>
            <a:ext cx="4286250" cy="441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7" b="0" i="0" u="none" strike="noStrike" cap="none" dirty="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Real-Time API:</a:t>
            </a:r>
            <a:r>
              <a:rPr lang="en-US" sz="1087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Move from annual static files to dynamic automated grid connection feeds.</a:t>
            </a:r>
            <a:endParaRPr dirty="0"/>
          </a:p>
        </p:txBody>
      </p:sp>
      <p:sp>
        <p:nvSpPr>
          <p:cNvPr id="317" name="Google Shape;317;p20"/>
          <p:cNvSpPr txBox="1"/>
          <p:nvPr/>
        </p:nvSpPr>
        <p:spPr>
          <a:xfrm>
            <a:off x="6581775" y="3110358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DDA15E"/>
                </a:solidFill>
                <a:latin typeface="Lato"/>
                <a:ea typeface="Lato"/>
                <a:cs typeface="Lato"/>
                <a:sym typeface="Lato"/>
              </a:rPr>
              <a:t>■</a:t>
            </a:r>
            <a:endParaRPr/>
          </a:p>
        </p:txBody>
      </p:sp>
      <p:sp>
        <p:nvSpPr>
          <p:cNvPr id="318" name="Google Shape;318;p20"/>
          <p:cNvSpPr txBox="1"/>
          <p:nvPr/>
        </p:nvSpPr>
        <p:spPr>
          <a:xfrm>
            <a:off x="6581775" y="3666380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DDA15E"/>
                </a:solidFill>
                <a:latin typeface="Lato"/>
                <a:ea typeface="Lato"/>
                <a:cs typeface="Lato"/>
                <a:sym typeface="Lato"/>
              </a:rPr>
              <a:t>■</a:t>
            </a:r>
            <a:endParaRPr/>
          </a:p>
        </p:txBody>
      </p:sp>
      <p:sp>
        <p:nvSpPr>
          <p:cNvPr id="319" name="Google Shape;319;p20"/>
          <p:cNvSpPr txBox="1"/>
          <p:nvPr/>
        </p:nvSpPr>
        <p:spPr>
          <a:xfrm>
            <a:off x="6581775" y="4222402"/>
            <a:ext cx="762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DDA15E"/>
                </a:solidFill>
                <a:latin typeface="Lato"/>
                <a:ea typeface="Lato"/>
                <a:cs typeface="Lato"/>
                <a:sym typeface="Lato"/>
              </a:rPr>
              <a:t>■</a:t>
            </a:r>
            <a:endParaRPr/>
          </a:p>
        </p:txBody>
      </p:sp>
      <p:sp>
        <p:nvSpPr>
          <p:cNvPr id="320" name="Google Shape;320;p20"/>
          <p:cNvSpPr txBox="1"/>
          <p:nvPr/>
        </p:nvSpPr>
        <p:spPr>
          <a:xfrm>
            <a:off x="762000" y="476250"/>
            <a:ext cx="1120140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Conclusion &amp; Strategic Roadmap</a:t>
            </a:r>
            <a:endParaRPr/>
          </a:p>
        </p:txBody>
      </p:sp>
      <p:sp>
        <p:nvSpPr>
          <p:cNvPr id="321" name="Google Shape;321;p20"/>
          <p:cNvSpPr txBox="1"/>
          <p:nvPr/>
        </p:nvSpPr>
        <p:spPr>
          <a:xfrm>
            <a:off x="933450" y="1047750"/>
            <a:ext cx="104965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Next Steps and Technical Ingestion Milestones</a:t>
            </a:r>
            <a:endParaRPr/>
          </a:p>
        </p:txBody>
      </p:sp>
      <p:sp>
        <p:nvSpPr>
          <p:cNvPr id="322" name="Google Shape;322;p20"/>
          <p:cNvSpPr/>
          <p:nvPr/>
        </p:nvSpPr>
        <p:spPr>
          <a:xfrm>
            <a:off x="762000" y="1000125"/>
            <a:ext cx="57150" cy="342900"/>
          </a:xfrm>
          <a:prstGeom prst="roundRect">
            <a:avLst>
              <a:gd name="adj" fmla="val 50000"/>
            </a:avLst>
          </a:prstGeom>
          <a:solidFill>
            <a:srgbClr val="4A75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A2063F70-1AC1-C3A9-4C31-BE5D12A09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>
            <a:extLst>
              <a:ext uri="{FF2B5EF4-FFF2-40B4-BE49-F238E27FC236}">
                <a16:creationId xmlns:a16="http://schemas.microsoft.com/office/drawing/2014/main" id="{1334CB3D-AF53-E9B7-903D-CA9736FF3787}"/>
              </a:ext>
            </a:extLst>
          </p:cNvPr>
          <p:cNvSpPr txBox="1"/>
          <p:nvPr/>
        </p:nvSpPr>
        <p:spPr>
          <a:xfrm>
            <a:off x="495300" y="2208796"/>
            <a:ext cx="11201400" cy="69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0" i="0" u="none" strike="noStrike" cap="none" dirty="0">
                <a:solidFill>
                  <a:schemeClr val="tx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Thank You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8" name="Google Shape;88;p13">
            <a:extLst>
              <a:ext uri="{FF2B5EF4-FFF2-40B4-BE49-F238E27FC236}">
                <a16:creationId xmlns:a16="http://schemas.microsoft.com/office/drawing/2014/main" id="{F2256044-2BD6-F08C-4668-942B40CBA7FE}"/>
              </a:ext>
            </a:extLst>
          </p:cNvPr>
          <p:cNvSpPr txBox="1"/>
          <p:nvPr/>
        </p:nvSpPr>
        <p:spPr>
          <a:xfrm>
            <a:off x="6141287" y="3499456"/>
            <a:ext cx="295751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60000"/>
              </a:lnSpc>
            </a:pPr>
            <a:r>
              <a:rPr lang="en-IN" sz="1000" dirty="0"/>
              <a:t>ankit-sheoran-523 (Ankit Sheoran)</a:t>
            </a:r>
            <a:endParaRPr sz="1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6C89E8-7840-0F4D-2D62-1753BE03F3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035" y="3517068"/>
            <a:ext cx="210996" cy="2109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2487309-7952-A7AC-9846-DEE3D521B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9147" y="3526871"/>
            <a:ext cx="191390" cy="1913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A4E1D16-ABCE-7190-5668-382C2A64F4F1}"/>
              </a:ext>
            </a:extLst>
          </p:cNvPr>
          <p:cNvSpPr txBox="1"/>
          <p:nvPr/>
        </p:nvSpPr>
        <p:spPr>
          <a:xfrm>
            <a:off x="4344662" y="3499456"/>
            <a:ext cx="16353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ankit-sheoran-349740159</a:t>
            </a:r>
          </a:p>
        </p:txBody>
      </p:sp>
      <p:sp>
        <p:nvSpPr>
          <p:cNvPr id="7" name="Google Shape;322;p20">
            <a:extLst>
              <a:ext uri="{FF2B5EF4-FFF2-40B4-BE49-F238E27FC236}">
                <a16:creationId xmlns:a16="http://schemas.microsoft.com/office/drawing/2014/main" id="{77AC824F-C3D0-8299-12C7-84E1AECD1177}"/>
              </a:ext>
            </a:extLst>
          </p:cNvPr>
          <p:cNvSpPr/>
          <p:nvPr/>
        </p:nvSpPr>
        <p:spPr>
          <a:xfrm rot="5400000">
            <a:off x="6073141" y="1940710"/>
            <a:ext cx="45719" cy="1873494"/>
          </a:xfrm>
          <a:prstGeom prst="roundRect">
            <a:avLst>
              <a:gd name="adj" fmla="val 50000"/>
            </a:avLst>
          </a:prstGeom>
          <a:solidFill>
            <a:srgbClr val="4A759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75398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1054</Words>
  <Application>Microsoft Office PowerPoint</Application>
  <PresentationFormat>Widescreen</PresentationFormat>
  <Paragraphs>138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Poppins</vt:lpstr>
      <vt:lpstr>Lato</vt:lpstr>
      <vt:lpstr>Calibri</vt:lpstr>
      <vt:lpstr>Poppins ExtraBold</vt:lpstr>
      <vt:lpstr>Arial</vt:lpstr>
      <vt:lpstr>Lato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Ankit Sheoran</cp:lastModifiedBy>
  <cp:revision>1</cp:revision>
  <dcterms:modified xsi:type="dcterms:W3CDTF">2026-07-05T08:16:29Z</dcterms:modified>
</cp:coreProperties>
</file>